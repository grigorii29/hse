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0"/>
  </p:notesMasterIdLst>
  <p:sldIdLst>
    <p:sldId id="256" r:id="rId2"/>
    <p:sldId id="258" r:id="rId3"/>
    <p:sldId id="282" r:id="rId4"/>
    <p:sldId id="257" r:id="rId5"/>
    <p:sldId id="286" r:id="rId6"/>
    <p:sldId id="260" r:id="rId7"/>
    <p:sldId id="279" r:id="rId8"/>
    <p:sldId id="259" r:id="rId9"/>
  </p:sldIdLst>
  <p:sldSz cx="9144000" cy="5143500" type="screen16x9"/>
  <p:notesSz cx="6858000" cy="9144000"/>
  <p:embeddedFontLst>
    <p:embeddedFont>
      <p:font typeface="Alexandria Medium" panose="020B0604020202020204" charset="-78"/>
      <p:regular r:id="rId11"/>
      <p:bold r:id="rId12"/>
    </p:embeddedFont>
    <p:embeddedFont>
      <p:font typeface="Arial Black" panose="020B0A04020102020204" pitchFamily="34" charset="0"/>
      <p:bold r:id="rId13"/>
    </p:embeddedFont>
    <p:embeddedFont>
      <p:font typeface="Microsoft Sans Serif" panose="020B0604020202020204" pitchFamily="3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Bahnschrift SemiBold SemiConden" panose="020B0502040204020203" pitchFamily="34" charset="0"/>
      <p:bold r:id="rId19"/>
    </p:embeddedFont>
    <p:embeddedFont>
      <p:font typeface="Noto Sans" panose="020B0604020202020204" charset="0"/>
      <p:regular r:id="rId20"/>
      <p:bold r:id="rId21"/>
      <p:italic r:id="rId22"/>
      <p:boldItalic r:id="rId23"/>
    </p:embeddedFont>
    <p:embeddedFont>
      <p:font typeface="Malgun Gothic Semilight" panose="020B0502040204020203" pitchFamily="34" charset="-128"/>
      <p:regular r:id="rId24"/>
    </p:embeddedFont>
    <p:embeddedFont>
      <p:font typeface="Albert Sans" panose="020B0604020202020204" charset="0"/>
      <p:regular r:id="rId25"/>
      <p:bold r:id="rId26"/>
      <p:italic r:id="rId27"/>
      <p:boldItalic r:id="rId28"/>
    </p:embeddedFont>
    <p:embeddedFont>
      <p:font typeface="Sitka Small Semibold" pitchFamily="2" charset="0"/>
      <p:bold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нна анна" initials="аа" lastIdx="1" clrIdx="0">
    <p:extLst>
      <p:ext uri="{19B8F6BF-5375-455C-9EA6-DF929625EA0E}">
        <p15:presenceInfo xmlns:p15="http://schemas.microsoft.com/office/powerpoint/2012/main" userId="2b3f6fa07f35fe6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7DEF46-9346-4485-BAFB-0F33D58B169F}">
  <a:tblStyle styleId="{C77DEF46-9346-4485-BAFB-0F33D58B16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12BC1FC-B20F-463D-B356-5AF12FCA80F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97849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8573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5434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572bee519d_0_8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2572bee519d_0_8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121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5703cb3a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5703cb3a7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6921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572bee519d_0_8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2572bee519d_0_8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3880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5384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572bee519d_0_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572bee519d_0_7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6534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5703cb3a7b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5703cb3a7b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5266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90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l="36284" t="30" r="-6" b="-40"/>
          <a:stretch/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 hasCustomPrompt="1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3" hasCustomPrompt="1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4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5" hasCustomPrompt="1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6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7" hasCustomPrompt="1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8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9" hasCustomPrompt="1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3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4" hasCustomPrompt="1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5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6" hasCustomPrompt="1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7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8" hasCustomPrompt="1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9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 l="-19690" t="41478" r="19690" b="2272"/>
          <a:stretch/>
        </p:blipFill>
        <p:spPr>
          <a:xfrm rot="10800000" flipH="1">
            <a:off x="0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715100" y="2259575"/>
            <a:ext cx="4276800" cy="231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7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4572000" y="535000"/>
            <a:ext cx="3856500" cy="809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l="-50000" t="49601" r="50000" b="-585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4302272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4302272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">
    <p:bg>
      <p:bgPr>
        <a:solidFill>
          <a:schemeClr val="l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8"/>
          <p:cNvPicPr preferRelativeResize="0"/>
          <p:nvPr/>
        </p:nvPicPr>
        <p:blipFill rotWithShape="1">
          <a:blip r:embed="rId2">
            <a:alphaModFix/>
          </a:blip>
          <a:srcRect l="-6644" t="-11183" r="27549" b="-11171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9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9"/>
          <p:cNvPicPr preferRelativeResize="0"/>
          <p:nvPr/>
        </p:nvPicPr>
        <p:blipFill rotWithShape="1">
          <a:blip r:embed="rId2">
            <a:alphaModFix/>
          </a:blip>
          <a:srcRect l="-55210" t="50562" r="55210" b="-6812"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9"/>
          <p:cNvSpPr txBox="1">
            <a:spLocks noGrp="1"/>
          </p:cNvSpPr>
          <p:nvPr>
            <p:ph type="ctrTitle"/>
          </p:nvPr>
        </p:nvSpPr>
        <p:spPr>
          <a:xfrm>
            <a:off x="715100" y="3330625"/>
            <a:ext cx="3856800" cy="12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2" name="Google Shape;172;p29"/>
          <p:cNvSpPr txBox="1">
            <a:spLocks noGrp="1"/>
          </p:cNvSpPr>
          <p:nvPr>
            <p:ph type="subTitle" idx="1"/>
          </p:nvPr>
        </p:nvSpPr>
        <p:spPr>
          <a:xfrm>
            <a:off x="4571900" y="535000"/>
            <a:ext cx="26838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3" name="Google Shape;173;p29"/>
          <p:cNvSpPr txBox="1"/>
          <p:nvPr/>
        </p:nvSpPr>
        <p:spPr>
          <a:xfrm>
            <a:off x="4571863" y="2278000"/>
            <a:ext cx="26838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lang="en" sz="9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lang="en" sz="9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Flaticon</a:t>
            </a:r>
            <a:r>
              <a:rPr lang="en" sz="9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infographics &amp; images by </a:t>
            </a:r>
            <a:r>
              <a:rPr lang="en" sz="9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Freepik</a:t>
            </a:r>
            <a:endParaRPr sz="9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l="-6644" t="13471" r="27549" b="-35825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l="-235243" t="44962" r="44461" b="-108521"/>
          <a:stretch/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61" r:id="rId5"/>
    <p:sldLayoutId id="2147483663" r:id="rId6"/>
    <p:sldLayoutId id="2147483674" r:id="rId7"/>
    <p:sldLayoutId id="2147483675" r:id="rId8"/>
    <p:sldLayoutId id="2147483676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ctrTitle"/>
          </p:nvPr>
        </p:nvSpPr>
        <p:spPr>
          <a:xfrm>
            <a:off x="715100" y="1667654"/>
            <a:ext cx="6021559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800" b="1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Вуз</a:t>
            </a:r>
            <a:r>
              <a:rPr lang="ru-RU" sz="8800" b="1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Сравни</a:t>
            </a:r>
            <a:r>
              <a:rPr lang="ru-RU" b="1" dirty="0"/>
              <a:t/>
            </a:r>
            <a:br>
              <a:rPr lang="ru-RU" b="1" dirty="0"/>
            </a:br>
            <a:r>
              <a:rPr lang="en-US" sz="5400" dirty="0" err="1"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EasyWay</a:t>
            </a:r>
            <a:endParaRPr sz="5400" dirty="0">
              <a:latin typeface="Malgun Gothic Semilight" panose="020B0502040204020203" pitchFamily="34" charset="-128"/>
              <a:ea typeface="Malgun Gothic Semilight" panose="020B0502040204020203" pitchFamily="34" charset="-128"/>
              <a:cs typeface="Malgun Gothic Semilight" panose="020B0502040204020203" pitchFamily="34" charset="-128"/>
            </a:endParaRPr>
          </a:p>
        </p:txBody>
      </p:sp>
      <p:sp>
        <p:nvSpPr>
          <p:cNvPr id="191" name="Google Shape;191;p35"/>
          <p:cNvSpPr txBox="1">
            <a:spLocks noGrp="1"/>
          </p:cNvSpPr>
          <p:nvPr>
            <p:ph type="subTitle" idx="1"/>
          </p:nvPr>
        </p:nvSpPr>
        <p:spPr>
          <a:xfrm>
            <a:off x="4031673" y="534999"/>
            <a:ext cx="4400727" cy="5789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/>
              <a:t>Выбери</a:t>
            </a:r>
            <a:r>
              <a:rPr lang="ru-RU" b="1" dirty="0"/>
              <a:t> вуз и направление, которые подходят именно тебе</a:t>
            </a:r>
            <a:endParaRPr b="1" dirty="0"/>
          </a:p>
        </p:txBody>
      </p:sp>
      <p:cxnSp>
        <p:nvCxnSpPr>
          <p:cNvPr id="192" name="Google Shape;192;p35">
            <a:hlinkClick r:id="" action="ppaction://hlinkshowjump?jump=nextslide"/>
          </p:cNvPr>
          <p:cNvCxnSpPr>
            <a:cxnSpLocks/>
          </p:cNvCxnSpPr>
          <p:nvPr/>
        </p:nvCxnSpPr>
        <p:spPr>
          <a:xfrm>
            <a:off x="715100" y="729100"/>
            <a:ext cx="3176256" cy="0"/>
          </a:xfrm>
          <a:prstGeom prst="straightConnector1">
            <a:avLst/>
          </a:prstGeom>
          <a:noFill/>
          <a:ln w="38100" cap="flat" cmpd="sng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>
            <a:spLocks noGrp="1"/>
          </p:cNvSpPr>
          <p:nvPr>
            <p:ph type="title"/>
          </p:nvPr>
        </p:nvSpPr>
        <p:spPr>
          <a:xfrm>
            <a:off x="740565" y="1564311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50000"/>
                  </a:schemeClr>
                </a:solidFill>
              </a:rPr>
              <a:t>01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7" name="Google Shape;207;p37"/>
          <p:cNvSpPr txBox="1">
            <a:spLocks noGrp="1"/>
          </p:cNvSpPr>
          <p:nvPr>
            <p:ph type="subTitle" idx="1"/>
          </p:nvPr>
        </p:nvSpPr>
        <p:spPr>
          <a:xfrm>
            <a:off x="1267855" y="1564303"/>
            <a:ext cx="2836631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Учебные программы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508793" y="360697"/>
            <a:ext cx="7713900" cy="9706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Arial Black" panose="020B0A040201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“</a:t>
            </a:r>
            <a:r>
              <a:rPr lang="ru-RU" sz="2800" dirty="0">
                <a:latin typeface="Arial Black" panose="020B0A040201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Как выбрать вуз</a:t>
            </a:r>
            <a:r>
              <a:rPr lang="en-US" sz="2800" dirty="0">
                <a:latin typeface="Arial Black" panose="020B0A040201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?”</a:t>
            </a:r>
            <a:r>
              <a:rPr lang="ru-RU" sz="2800" dirty="0">
                <a:latin typeface="Arial Black" panose="020B0A040201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/>
            </a:r>
            <a:br>
              <a:rPr lang="ru-RU" sz="2800" dirty="0">
                <a:latin typeface="Arial Black" panose="020B0A040201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</a:br>
            <a:r>
              <a:rPr lang="ru-RU" sz="2800" dirty="0">
                <a:latin typeface="Arial Black" panose="020B0A040201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ru-RU" sz="1600" b="1" i="1" dirty="0">
                <a:solidFill>
                  <a:schemeClr val="bg2">
                    <a:lumMod val="50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сегодня абитуриенту приходиться самостоятельно искать</a:t>
            </a:r>
            <a:r>
              <a:rPr lang="en-US" sz="1600" b="1" i="1" dirty="0">
                <a:solidFill>
                  <a:schemeClr val="bg2">
                    <a:lumMod val="50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:</a:t>
            </a:r>
            <a:endParaRPr sz="1600" b="1" i="1" dirty="0">
              <a:solidFill>
                <a:schemeClr val="bg2">
                  <a:lumMod val="50000"/>
                </a:schemeClr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9" name="Google Shape;209;p37"/>
          <p:cNvSpPr txBox="1">
            <a:spLocks noGrp="1"/>
          </p:cNvSpPr>
          <p:nvPr>
            <p:ph type="title" idx="3"/>
          </p:nvPr>
        </p:nvSpPr>
        <p:spPr>
          <a:xfrm>
            <a:off x="740604" y="226629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50000"/>
                  </a:schemeClr>
                </a:solidFill>
              </a:rPr>
              <a:t>02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0" name="Google Shape;210;p37"/>
          <p:cNvSpPr txBox="1">
            <a:spLocks noGrp="1"/>
          </p:cNvSpPr>
          <p:nvPr>
            <p:ph type="subTitle" idx="4"/>
          </p:nvPr>
        </p:nvSpPr>
        <p:spPr>
          <a:xfrm>
            <a:off x="1279065" y="2266295"/>
            <a:ext cx="3024803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различных дисциплин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Google Shape;211;p37"/>
          <p:cNvSpPr txBox="1">
            <a:spLocks noGrp="1"/>
          </p:cNvSpPr>
          <p:nvPr>
            <p:ph type="title" idx="5"/>
          </p:nvPr>
        </p:nvSpPr>
        <p:spPr>
          <a:xfrm>
            <a:off x="740641" y="3075681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50000"/>
                  </a:schemeClr>
                </a:solidFill>
              </a:rPr>
              <a:t>03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2" name="Google Shape;212;p37"/>
          <p:cNvSpPr txBox="1">
            <a:spLocks noGrp="1"/>
          </p:cNvSpPr>
          <p:nvPr>
            <p:ph type="subTitle" idx="6"/>
          </p:nvPr>
        </p:nvSpPr>
        <p:spPr>
          <a:xfrm>
            <a:off x="1279066" y="3075673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трудоустройства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Google Shape;213;p37"/>
          <p:cNvSpPr txBox="1">
            <a:spLocks noGrp="1"/>
          </p:cNvSpPr>
          <p:nvPr>
            <p:ph type="title" idx="7"/>
          </p:nvPr>
        </p:nvSpPr>
        <p:spPr>
          <a:xfrm>
            <a:off x="4555520" y="1564303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50000"/>
                  </a:schemeClr>
                </a:solidFill>
              </a:rPr>
              <a:t>04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5" name="Google Shape;215;p37"/>
          <p:cNvSpPr txBox="1">
            <a:spLocks noGrp="1"/>
          </p:cNvSpPr>
          <p:nvPr>
            <p:ph type="title" idx="9"/>
          </p:nvPr>
        </p:nvSpPr>
        <p:spPr>
          <a:xfrm>
            <a:off x="4555520" y="226629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50000"/>
                  </a:schemeClr>
                </a:solidFill>
              </a:rPr>
              <a:t>05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6" name="Google Shape;216;p37"/>
          <p:cNvSpPr txBox="1">
            <a:spLocks noGrp="1"/>
          </p:cNvSpPr>
          <p:nvPr>
            <p:ph type="subTitle" idx="13"/>
          </p:nvPr>
        </p:nvSpPr>
        <p:spPr>
          <a:xfrm>
            <a:off x="5094020" y="1564303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Общежития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Google Shape;217;p37"/>
          <p:cNvSpPr txBox="1">
            <a:spLocks noGrp="1"/>
          </p:cNvSpPr>
          <p:nvPr>
            <p:ph type="title" idx="14"/>
          </p:nvPr>
        </p:nvSpPr>
        <p:spPr>
          <a:xfrm>
            <a:off x="4555520" y="3075937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50000"/>
                  </a:schemeClr>
                </a:solidFill>
              </a:rPr>
              <a:t>06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8" name="Google Shape;218;p37"/>
          <p:cNvSpPr txBox="1">
            <a:spLocks noGrp="1"/>
          </p:cNvSpPr>
          <p:nvPr>
            <p:ph type="subTitle" idx="15"/>
          </p:nvPr>
        </p:nvSpPr>
        <p:spPr>
          <a:xfrm>
            <a:off x="5094020" y="2266295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Расположение корпусов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Google Shape;220;p37"/>
          <p:cNvSpPr txBox="1">
            <a:spLocks noGrp="1"/>
          </p:cNvSpPr>
          <p:nvPr>
            <p:ph type="subTitle" idx="17"/>
          </p:nvPr>
        </p:nvSpPr>
        <p:spPr>
          <a:xfrm>
            <a:off x="5094020" y="3075673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Отзывы студентов и выпускников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469BAF7-F418-0C08-191E-35EE0AE5464C}"/>
              </a:ext>
            </a:extLst>
          </p:cNvPr>
          <p:cNvSpPr txBox="1"/>
          <p:nvPr/>
        </p:nvSpPr>
        <p:spPr>
          <a:xfrm>
            <a:off x="740565" y="4139332"/>
            <a:ext cx="5907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Сложно сравнить → сложно выбрать → легко ошибиться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1"/>
          <p:cNvSpPr txBox="1">
            <a:spLocks noGrp="1"/>
          </p:cNvSpPr>
          <p:nvPr>
            <p:ph type="title"/>
          </p:nvPr>
        </p:nvSpPr>
        <p:spPr>
          <a:xfrm>
            <a:off x="440092" y="362552"/>
            <a:ext cx="7713900" cy="739096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Наше решение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+mn-lt"/>
              </a:rPr>
              <a:t>собрать все сравнения в одном месте</a:t>
            </a:r>
            <a:endParaRPr sz="2000" dirty="0">
              <a:latin typeface="+mn-lt"/>
            </a:endParaRPr>
          </a:p>
        </p:txBody>
      </p:sp>
      <p:sp>
        <p:nvSpPr>
          <p:cNvPr id="509" name="Google Shape;509;p61"/>
          <p:cNvSpPr/>
          <p:nvPr/>
        </p:nvSpPr>
        <p:spPr>
          <a:xfrm>
            <a:off x="619849" y="1861878"/>
            <a:ext cx="120900" cy="1209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61"/>
          <p:cNvSpPr txBox="1"/>
          <p:nvPr/>
        </p:nvSpPr>
        <p:spPr>
          <a:xfrm>
            <a:off x="893153" y="1693738"/>
            <a:ext cx="469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Сравнить вузы</a:t>
            </a:r>
            <a:endParaRPr lang="en-US" sz="2000" b="1" dirty="0">
              <a:solidFill>
                <a:schemeClr val="dk1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11" name="Google Shape;511;p61"/>
          <p:cNvSpPr/>
          <p:nvPr/>
        </p:nvSpPr>
        <p:spPr>
          <a:xfrm>
            <a:off x="619849" y="2319078"/>
            <a:ext cx="120900" cy="1209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61"/>
          <p:cNvSpPr txBox="1"/>
          <p:nvPr/>
        </p:nvSpPr>
        <p:spPr>
          <a:xfrm>
            <a:off x="893153" y="2150928"/>
            <a:ext cx="469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Сравнить направления</a:t>
            </a:r>
            <a:endParaRPr sz="2000" b="1" dirty="0">
              <a:solidFill>
                <a:schemeClr val="dk1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13" name="Google Shape;513;p61"/>
          <p:cNvSpPr/>
          <p:nvPr/>
        </p:nvSpPr>
        <p:spPr>
          <a:xfrm>
            <a:off x="619849" y="2776278"/>
            <a:ext cx="120900" cy="1209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61"/>
          <p:cNvSpPr txBox="1"/>
          <p:nvPr/>
        </p:nvSpPr>
        <p:spPr>
          <a:xfrm>
            <a:off x="893153" y="2608138"/>
            <a:ext cx="469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Увидеть </a:t>
            </a:r>
            <a:r>
              <a:rPr lang="ru-RU" sz="2000" b="1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будущую специальность</a:t>
            </a:r>
            <a:endParaRPr sz="2000" b="1" dirty="0">
              <a:solidFill>
                <a:schemeClr val="dk1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15" name="Google Shape;515;p61"/>
          <p:cNvSpPr/>
          <p:nvPr/>
        </p:nvSpPr>
        <p:spPr>
          <a:xfrm>
            <a:off x="619849" y="3233478"/>
            <a:ext cx="120900" cy="1209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61"/>
          <p:cNvSpPr txBox="1"/>
          <p:nvPr/>
        </p:nvSpPr>
        <p:spPr>
          <a:xfrm>
            <a:off x="893153" y="3065318"/>
            <a:ext cx="469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Узнать мнение выпускников</a:t>
            </a:r>
            <a:endParaRPr sz="2000" b="1" dirty="0">
              <a:solidFill>
                <a:schemeClr val="dk1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cxnSp>
        <p:nvCxnSpPr>
          <p:cNvPr id="523" name="Google Shape;523;p61"/>
          <p:cNvCxnSpPr>
            <a:stCxn id="509" idx="2"/>
            <a:endCxn id="511" idx="0"/>
          </p:cNvCxnSpPr>
          <p:nvPr/>
        </p:nvCxnSpPr>
        <p:spPr>
          <a:xfrm>
            <a:off x="680299" y="1982778"/>
            <a:ext cx="0" cy="33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4" name="Google Shape;524;p61"/>
          <p:cNvCxnSpPr>
            <a:stCxn id="511" idx="2"/>
            <a:endCxn id="513" idx="0"/>
          </p:cNvCxnSpPr>
          <p:nvPr/>
        </p:nvCxnSpPr>
        <p:spPr>
          <a:xfrm>
            <a:off x="680299" y="2439978"/>
            <a:ext cx="0" cy="33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5" name="Google Shape;525;p61"/>
          <p:cNvCxnSpPr>
            <a:stCxn id="513" idx="2"/>
            <a:endCxn id="515" idx="0"/>
          </p:cNvCxnSpPr>
          <p:nvPr/>
        </p:nvCxnSpPr>
        <p:spPr>
          <a:xfrm>
            <a:off x="680299" y="2897178"/>
            <a:ext cx="0" cy="33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0848601-B93C-F672-B9DB-6C7DA824124F}"/>
              </a:ext>
            </a:extLst>
          </p:cNvPr>
          <p:cNvSpPr txBox="1"/>
          <p:nvPr/>
        </p:nvSpPr>
        <p:spPr>
          <a:xfrm>
            <a:off x="440092" y="1067970"/>
            <a:ext cx="54313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i="1" dirty="0" err="1">
                <a:solidFill>
                  <a:schemeClr val="bg2">
                    <a:lumMod val="50000"/>
                  </a:schemeClr>
                </a:solidFill>
                <a:latin typeface="+mn-lt"/>
              </a:rPr>
              <a:t>ВузСравни</a:t>
            </a:r>
            <a:r>
              <a:rPr lang="ru-RU" sz="1800" b="1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 позволяет</a:t>
            </a:r>
            <a:r>
              <a:rPr lang="en-US" sz="1800" b="1" i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:</a:t>
            </a:r>
            <a:endParaRPr lang="ru-RU" sz="1800" b="1" i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1ABCC01-3B1B-3770-8F5D-3CFF3F4B9FAF}"/>
              </a:ext>
            </a:extLst>
          </p:cNvPr>
          <p:cNvSpPr txBox="1"/>
          <p:nvPr/>
        </p:nvSpPr>
        <p:spPr>
          <a:xfrm>
            <a:off x="440092" y="3858818"/>
            <a:ext cx="5998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+mj-lt"/>
              </a:rPr>
              <a:t>И главное</a:t>
            </a:r>
            <a:r>
              <a:rPr lang="en-US" sz="1600" dirty="0">
                <a:latin typeface="+mj-lt"/>
              </a:rPr>
              <a:t>:</a:t>
            </a:r>
            <a:r>
              <a:rPr lang="ru-RU" sz="1600" dirty="0">
                <a:latin typeface="+mj-lt"/>
              </a:rPr>
              <a:t> мы разделяем понятия </a:t>
            </a:r>
            <a:r>
              <a:rPr lang="en-US" sz="1600" dirty="0">
                <a:latin typeface="+mj-lt"/>
              </a:rPr>
              <a:t>“</a:t>
            </a:r>
            <a:r>
              <a:rPr lang="ru-RU" sz="16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вуз</a:t>
            </a:r>
            <a:r>
              <a:rPr lang="en-US" sz="1600" dirty="0">
                <a:latin typeface="+mj-lt"/>
              </a:rPr>
              <a:t>”</a:t>
            </a:r>
            <a:r>
              <a:rPr lang="ru-RU" sz="1600" dirty="0">
                <a:latin typeface="+mj-lt"/>
              </a:rPr>
              <a:t> и</a:t>
            </a:r>
            <a:r>
              <a:rPr lang="en-US" sz="1600" dirty="0">
                <a:latin typeface="+mj-lt"/>
              </a:rPr>
              <a:t> “</a:t>
            </a:r>
            <a:r>
              <a:rPr lang="ru-RU" sz="16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направление</a:t>
            </a:r>
            <a:r>
              <a:rPr lang="en-US" sz="1600" dirty="0">
                <a:latin typeface="+mj-lt"/>
              </a:rPr>
              <a:t>”</a:t>
            </a:r>
            <a:endParaRPr lang="ru-RU" sz="160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>
            <a:spLocks noGrp="1"/>
          </p:cNvSpPr>
          <p:nvPr>
            <p:ph type="title" idx="4294967295"/>
          </p:nvPr>
        </p:nvSpPr>
        <p:spPr>
          <a:xfrm>
            <a:off x="0" y="503238"/>
            <a:ext cx="7715250" cy="549275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latin typeface="+mn-lt"/>
              </a:rPr>
              <a:t>Чем мы </a:t>
            </a:r>
            <a:r>
              <a:rPr lang="ru-RU" sz="20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отличаемся</a:t>
            </a:r>
            <a:r>
              <a:rPr lang="ru-RU" sz="2000" b="1" dirty="0">
                <a:latin typeface="+mn-lt"/>
              </a:rPr>
              <a:t> от обычных агрегаторов</a:t>
            </a:r>
            <a:r>
              <a:rPr lang="en-US" sz="2000" b="1" dirty="0">
                <a:latin typeface="+mn-lt"/>
              </a:rPr>
              <a:t>:</a:t>
            </a:r>
            <a:endParaRPr sz="2000" b="1" dirty="0">
              <a:latin typeface="+mn-lt"/>
            </a:endParaRPr>
          </a:p>
        </p:txBody>
      </p:sp>
      <p:graphicFrame>
        <p:nvGraphicFramePr>
          <p:cNvPr id="198" name="Google Shape;198;p36"/>
          <p:cNvGraphicFramePr/>
          <p:nvPr>
            <p:extLst>
              <p:ext uri="{D42A27DB-BD31-4B8C-83A1-F6EECF244321}">
                <p14:modId xmlns:p14="http://schemas.microsoft.com/office/powerpoint/2010/main" val="2062969092"/>
              </p:ext>
            </p:extLst>
          </p:nvPr>
        </p:nvGraphicFramePr>
        <p:xfrm>
          <a:off x="715100" y="1239375"/>
          <a:ext cx="7377013" cy="3200053"/>
        </p:xfrm>
        <a:graphic>
          <a:graphicData uri="http://schemas.openxmlformats.org/drawingml/2006/table">
            <a:tbl>
              <a:tblPr>
                <a:tableStyleId>{C77DEF46-9346-4485-BAFB-0F33D58B169F}</a:tableStyleId>
              </a:tblPr>
              <a:tblGrid>
                <a:gridCol w="36981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7886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23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u="sng" dirty="0">
                          <a:solidFill>
                            <a:schemeClr val="tx1"/>
                          </a:solidFill>
                          <a:sym typeface="Albert Sans"/>
                        </a:rPr>
                        <a:t>Обычный агрегатор</a:t>
                      </a:r>
                      <a:endParaRPr sz="1600" b="1" u="sng" dirty="0">
                        <a:solidFill>
                          <a:schemeClr val="tx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600" b="1" u="sng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sym typeface="Albert Sans"/>
                        </a:rPr>
                        <a:t>Вуз</a:t>
                      </a:r>
                      <a:r>
                        <a:rPr lang="ru-RU" sz="1600" b="1" u="sng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sym typeface="Albert Sans"/>
                        </a:rPr>
                        <a:t>Сравни</a:t>
                      </a:r>
                      <a:endParaRPr sz="1600" b="1" u="sng" dirty="0">
                        <a:solidFill>
                          <a:schemeClr val="bg1">
                            <a:lumMod val="50000"/>
                          </a:schemeClr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995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dirty="0">
                          <a:solidFill>
                            <a:schemeClr val="dk1"/>
                          </a:solidFill>
                          <a:latin typeface="Sitka Small Semibold" pitchFamily="2" charset="0"/>
                          <a:cs typeface="Times New Roman" panose="02020603050405020304" pitchFamily="18" charset="0"/>
                          <a:sym typeface="Albert Sans"/>
                        </a:rPr>
                        <a:t>Сравнение вузов</a:t>
                      </a:r>
                      <a:endParaRPr sz="1400" b="1" u="none" dirty="0">
                        <a:solidFill>
                          <a:schemeClr val="dk1"/>
                        </a:solidFill>
                        <a:latin typeface="Sitka Small Semibold" pitchFamily="2" charset="0"/>
                        <a:ea typeface="Albert Sans"/>
                        <a:cs typeface="Times New Roman" panose="02020603050405020304" pitchFamily="18" charset="0"/>
                        <a:sym typeface="Albert Sans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400" b="1" dirty="0">
                          <a:solidFill>
                            <a:schemeClr val="dk1"/>
                          </a:solidFill>
                          <a:latin typeface="Sitka Small Semibold" pitchFamily="2" charset="0"/>
                          <a:cs typeface="Times New Roman" panose="02020603050405020304" pitchFamily="18" charset="0"/>
                          <a:sym typeface="Albert Sans"/>
                        </a:rPr>
                        <a:t>Сравнение конкретных направлений в разных вузах</a:t>
                      </a:r>
                      <a:endParaRPr sz="1400" b="1" dirty="0">
                        <a:solidFill>
                          <a:schemeClr val="dk1"/>
                        </a:solidFill>
                        <a:latin typeface="Sitka Small Semibold" pitchFamily="2" charset="0"/>
                        <a:ea typeface="Albert Sans"/>
                        <a:cs typeface="Times New Roman" panose="02020603050405020304" pitchFamily="18" charset="0"/>
                        <a:sym typeface="Albert Sans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3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dirty="0">
                          <a:solidFill>
                            <a:schemeClr val="dk1"/>
                          </a:solidFill>
                          <a:latin typeface="Sitka Small Semibold" pitchFamily="2" charset="0"/>
                          <a:cs typeface="Times New Roman" panose="02020603050405020304" pitchFamily="18" charset="0"/>
                          <a:sym typeface="Albert Sans"/>
                        </a:rPr>
                        <a:t>Список направлений</a:t>
                      </a:r>
                      <a:endParaRPr sz="1400" b="1" u="none" dirty="0">
                        <a:solidFill>
                          <a:schemeClr val="dk1"/>
                        </a:solidFill>
                        <a:latin typeface="Sitka Small Semibold" pitchFamily="2" charset="0"/>
                        <a:ea typeface="Albert Sans"/>
                        <a:cs typeface="Times New Roman" panose="02020603050405020304" pitchFamily="18" charset="0"/>
                        <a:sym typeface="Albert Sans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400" b="1" dirty="0">
                          <a:solidFill>
                            <a:schemeClr val="dk1"/>
                          </a:solidFill>
                          <a:latin typeface="Sitka Small Semibold" pitchFamily="2" charset="0"/>
                          <a:cs typeface="Times New Roman" panose="02020603050405020304" pitchFamily="18" charset="0"/>
                          <a:sym typeface="Albert Sans"/>
                        </a:rPr>
                        <a:t>Сравнение самих направлений</a:t>
                      </a:r>
                      <a:endParaRPr sz="1400" b="1" dirty="0">
                        <a:solidFill>
                          <a:schemeClr val="dk1"/>
                        </a:solidFill>
                        <a:latin typeface="Sitka Small Semibold" pitchFamily="2" charset="0"/>
                        <a:ea typeface="Albert Sans"/>
                        <a:cs typeface="Times New Roman" panose="02020603050405020304" pitchFamily="18" charset="0"/>
                        <a:sym typeface="Albert Sans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3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dirty="0">
                          <a:solidFill>
                            <a:schemeClr val="dk1"/>
                          </a:solidFill>
                          <a:latin typeface="Sitka Small Semibold" pitchFamily="2" charset="0"/>
                          <a:cs typeface="Times New Roman" panose="02020603050405020304" pitchFamily="18" charset="0"/>
                          <a:sym typeface="Albert Sans"/>
                        </a:rPr>
                        <a:t>Рейтинг</a:t>
                      </a:r>
                      <a:endParaRPr sz="1400" b="1" u="none" dirty="0">
                        <a:solidFill>
                          <a:schemeClr val="dk1"/>
                        </a:solidFill>
                        <a:latin typeface="Sitka Small Semibold" pitchFamily="2" charset="0"/>
                        <a:ea typeface="Albert Sans"/>
                        <a:cs typeface="Times New Roman" panose="02020603050405020304" pitchFamily="18" charset="0"/>
                        <a:sym typeface="Albert Sans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400" b="1" dirty="0">
                          <a:solidFill>
                            <a:schemeClr val="dk1"/>
                          </a:solidFill>
                          <a:latin typeface="Sitka Small Semibold" pitchFamily="2" charset="0"/>
                          <a:cs typeface="Times New Roman" panose="02020603050405020304" pitchFamily="18" charset="0"/>
                          <a:sym typeface="Albert Sans"/>
                        </a:rPr>
                        <a:t>Понятные критерии</a:t>
                      </a:r>
                      <a:endParaRPr sz="1400" b="1" dirty="0">
                        <a:solidFill>
                          <a:schemeClr val="dk1"/>
                        </a:solidFill>
                        <a:latin typeface="Sitka Small Semibold" pitchFamily="2" charset="0"/>
                        <a:ea typeface="Albert Sans"/>
                        <a:cs typeface="Times New Roman" panose="02020603050405020304" pitchFamily="18" charset="0"/>
                        <a:sym typeface="Albert Sans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830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u="none" dirty="0">
                          <a:solidFill>
                            <a:schemeClr val="dk1"/>
                          </a:solidFill>
                          <a:latin typeface="Sitka Small Semibold" pitchFamily="2" charset="0"/>
                          <a:cs typeface="Times New Roman" panose="02020603050405020304" pitchFamily="18" charset="0"/>
                          <a:sym typeface="Albert Sans"/>
                        </a:rPr>
                        <a:t>Общая информация</a:t>
                      </a:r>
                      <a:endParaRPr sz="1400" b="1" u="none" dirty="0">
                        <a:solidFill>
                          <a:schemeClr val="dk1"/>
                        </a:solidFill>
                        <a:latin typeface="Sitka Small Semibold" pitchFamily="2" charset="0"/>
                        <a:ea typeface="Albert Sans"/>
                        <a:cs typeface="Times New Roman" panose="02020603050405020304" pitchFamily="18" charset="0"/>
                        <a:sym typeface="Albert Sans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dirty="0">
                          <a:solidFill>
                            <a:schemeClr val="dk1"/>
                          </a:solidFill>
                          <a:latin typeface="Sitka Small Semibold" pitchFamily="2" charset="0"/>
                          <a:ea typeface="Albert Sans"/>
                          <a:cs typeface="Times New Roman" panose="02020603050405020304" pitchFamily="18" charset="0"/>
                          <a:sym typeface="Albert Sans"/>
                        </a:rPr>
                        <a:t>Возможность </a:t>
                      </a:r>
                      <a:r>
                        <a:rPr lang="ru-RU" sz="1400" b="0">
                          <a:solidFill>
                            <a:schemeClr val="dk1"/>
                          </a:solidFill>
                          <a:latin typeface="Sitka Small Semibold" pitchFamily="2" charset="0"/>
                          <a:ea typeface="Albert Sans"/>
                          <a:cs typeface="Times New Roman" panose="02020603050405020304" pitchFamily="18" charset="0"/>
                          <a:sym typeface="Albert Sans"/>
                        </a:rPr>
                        <a:t>пройти профориентационный тест</a:t>
                      </a:r>
                      <a:endParaRPr sz="1400" b="0" dirty="0">
                        <a:solidFill>
                          <a:schemeClr val="dk1"/>
                        </a:solidFill>
                        <a:latin typeface="Sitka Small Semibold" pitchFamily="2" charset="0"/>
                        <a:ea typeface="Albert Sans"/>
                        <a:cs typeface="Times New Roman" panose="02020603050405020304" pitchFamily="18" charset="0"/>
                        <a:sym typeface="Albert Sans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23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chemeClr val="dk1"/>
                          </a:solidFill>
                          <a:latin typeface="Sitka Small Semibold" pitchFamily="2" charset="0"/>
                          <a:cs typeface="Times New Roman" panose="02020603050405020304" pitchFamily="18" charset="0"/>
                          <a:sym typeface="Albert Sans"/>
                        </a:rPr>
                        <a:t>Отдельные отзывы</a:t>
                      </a:r>
                      <a:endParaRPr sz="1400" b="1" dirty="0">
                        <a:solidFill>
                          <a:schemeClr val="dk1"/>
                        </a:solidFill>
                        <a:latin typeface="Sitka Small Semibold" pitchFamily="2" charset="0"/>
                        <a:ea typeface="Albert Sans"/>
                        <a:cs typeface="Times New Roman" panose="02020603050405020304" pitchFamily="18" charset="0"/>
                        <a:sym typeface="Albert Sans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400" b="1" dirty="0">
                          <a:solidFill>
                            <a:schemeClr val="dk1"/>
                          </a:solidFill>
                          <a:latin typeface="Sitka Small Semibold" pitchFamily="2" charset="0"/>
                          <a:cs typeface="Times New Roman" panose="02020603050405020304" pitchFamily="18" charset="0"/>
                          <a:sym typeface="Albert Sans"/>
                        </a:rPr>
                        <a:t>Отзывы выпускников</a:t>
                      </a:r>
                      <a:endParaRPr sz="1400" b="1" dirty="0">
                        <a:solidFill>
                          <a:schemeClr val="dk1"/>
                        </a:solidFill>
                        <a:latin typeface="Sitka Small Semibold" pitchFamily="2" charset="0"/>
                        <a:ea typeface="Albert Sans"/>
                        <a:cs typeface="Times New Roman" panose="02020603050405020304" pitchFamily="18" charset="0"/>
                        <a:sym typeface="Albert Sans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3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dk1"/>
                          </a:solidFill>
                          <a:latin typeface="Sitka Small Semibold" pitchFamily="2" charset="0"/>
                          <a:ea typeface="Albert Sans"/>
                          <a:cs typeface="Times New Roman" panose="02020603050405020304" pitchFamily="18" charset="0"/>
                          <a:sym typeface="Albert Sans"/>
                        </a:rPr>
                        <a:t> -</a:t>
                      </a:r>
                      <a:endParaRPr sz="2000" b="1" dirty="0">
                        <a:solidFill>
                          <a:schemeClr val="dk1"/>
                        </a:solidFill>
                        <a:latin typeface="Sitka Small Semibold" pitchFamily="2" charset="0"/>
                        <a:ea typeface="Albert Sans"/>
                        <a:cs typeface="Times New Roman" panose="02020603050405020304" pitchFamily="18" charset="0"/>
                        <a:sym typeface="Albert Sans"/>
                      </a:endParaRPr>
                    </a:p>
                  </a:txBody>
                  <a:tcPr marL="91425" marR="91425" marT="0" marB="0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400" b="1" dirty="0">
                          <a:solidFill>
                            <a:schemeClr val="dk1"/>
                          </a:solidFill>
                          <a:latin typeface="Sitka Small Semibold" pitchFamily="2" charset="0"/>
                          <a:ea typeface="Albert Sans"/>
                          <a:cs typeface="Times New Roman" panose="02020603050405020304" pitchFamily="18" charset="0"/>
                          <a:sym typeface="Albert Sans"/>
                        </a:rPr>
                        <a:t>Будущие профессии</a:t>
                      </a:r>
                      <a:endParaRPr sz="1400" b="1" dirty="0">
                        <a:solidFill>
                          <a:schemeClr val="dk1"/>
                        </a:solidFill>
                        <a:latin typeface="Sitka Small Semibold" pitchFamily="2" charset="0"/>
                        <a:ea typeface="Albert Sans"/>
                        <a:cs typeface="Times New Roman" panose="02020603050405020304" pitchFamily="18" charset="0"/>
                        <a:sym typeface="Albert Sans"/>
                      </a:endParaRPr>
                    </a:p>
                  </a:txBody>
                  <a:tcPr marL="91425" marR="91425" marT="0" marB="0" anchor="ctr"/>
                </a:tc>
                <a:extLst>
                  <a:ext uri="{0D108BD9-81ED-4DB2-BD59-A6C34878D82A}">
                    <a16:rowId xmlns:a16="http://schemas.microsoft.com/office/drawing/2014/main" xmlns="" val="26379185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5"/>
          <p:cNvSpPr txBox="1">
            <a:spLocks noGrp="1"/>
          </p:cNvSpPr>
          <p:nvPr>
            <p:ph type="title" idx="4294967295"/>
          </p:nvPr>
        </p:nvSpPr>
        <p:spPr>
          <a:xfrm>
            <a:off x="0" y="436563"/>
            <a:ext cx="7715250" cy="64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tx1"/>
                </a:solidFill>
                <a:latin typeface="+mn-lt"/>
              </a:rPr>
              <a:t>Механика </a:t>
            </a:r>
            <a:r>
              <a:rPr lang="ru-RU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сервиса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:</a:t>
            </a:r>
            <a:endParaRPr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71" name="Google Shape;571;p65"/>
          <p:cNvSpPr txBox="1"/>
          <p:nvPr/>
        </p:nvSpPr>
        <p:spPr>
          <a:xfrm>
            <a:off x="715100" y="1242800"/>
            <a:ext cx="2571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bg2">
                    <a:lumMod val="50000"/>
                  </a:schemeClr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01</a:t>
            </a:r>
            <a:endParaRPr sz="1800" dirty="0">
              <a:solidFill>
                <a:schemeClr val="bg2">
                  <a:lumMod val="50000"/>
                </a:schemeClr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72" name="Google Shape;572;p65"/>
          <p:cNvSpPr txBox="1"/>
          <p:nvPr/>
        </p:nvSpPr>
        <p:spPr>
          <a:xfrm>
            <a:off x="715100" y="1623800"/>
            <a:ext cx="25713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Bahnschrift SemiBold SemiConden" panose="020B0502040204020203" pitchFamily="34" charset="0"/>
                <a:ea typeface="Alexandria Medium"/>
                <a:cs typeface="Alexandria Medium"/>
                <a:sym typeface="Alexandria Medium"/>
              </a:rPr>
              <a:t>Прохождение профориентации. Выбор направления</a:t>
            </a:r>
            <a:endParaRPr sz="1800" dirty="0">
              <a:solidFill>
                <a:schemeClr val="dk1"/>
              </a:solidFill>
              <a:latin typeface="Bahnschrift SemiBold SemiConden" panose="020B0502040204020203" pitchFamily="34" charset="0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73" name="Google Shape;573;p65"/>
          <p:cNvSpPr txBox="1"/>
          <p:nvPr/>
        </p:nvSpPr>
        <p:spPr>
          <a:xfrm>
            <a:off x="3286400" y="1242800"/>
            <a:ext cx="2571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bg2">
                    <a:lumMod val="50000"/>
                  </a:schemeClr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02</a:t>
            </a:r>
            <a:endParaRPr sz="1800" dirty="0">
              <a:solidFill>
                <a:schemeClr val="bg2">
                  <a:lumMod val="50000"/>
                </a:schemeClr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74" name="Google Shape;574;p65"/>
          <p:cNvSpPr txBox="1"/>
          <p:nvPr/>
        </p:nvSpPr>
        <p:spPr>
          <a:xfrm>
            <a:off x="3286350" y="1620400"/>
            <a:ext cx="25713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Bahnschrift SemiBold SemiConden" panose="020B0502040204020203" pitchFamily="34" charset="0"/>
                <a:ea typeface="Alexandria Medium"/>
                <a:cs typeface="Alexandria Medium"/>
                <a:sym typeface="Alexandria Medium"/>
              </a:rPr>
              <a:t>Сравнение программ</a:t>
            </a:r>
            <a:endParaRPr sz="1800" dirty="0">
              <a:solidFill>
                <a:schemeClr val="dk1"/>
              </a:solidFill>
              <a:latin typeface="Bahnschrift SemiBold SemiConden" panose="020B0502040204020203" pitchFamily="34" charset="0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75" name="Google Shape;575;p65"/>
          <p:cNvSpPr txBox="1"/>
          <p:nvPr/>
        </p:nvSpPr>
        <p:spPr>
          <a:xfrm>
            <a:off x="5857700" y="1242800"/>
            <a:ext cx="2571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03</a:t>
            </a:r>
            <a:endParaRPr sz="1800" dirty="0">
              <a:solidFill>
                <a:schemeClr val="lt2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76" name="Google Shape;576;p65"/>
          <p:cNvSpPr txBox="1"/>
          <p:nvPr/>
        </p:nvSpPr>
        <p:spPr>
          <a:xfrm>
            <a:off x="5857700" y="1623800"/>
            <a:ext cx="25713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Bahnschrift SemiBold SemiConden" panose="020B0502040204020203" pitchFamily="34" charset="0"/>
                <a:ea typeface="Alexandria Medium"/>
                <a:cs typeface="Alexandria Medium"/>
                <a:sym typeface="Alexandria Medium"/>
              </a:rPr>
              <a:t>Изучение интересующих вузов</a:t>
            </a:r>
            <a:endParaRPr sz="1800" dirty="0">
              <a:solidFill>
                <a:schemeClr val="dk1"/>
              </a:solidFill>
              <a:latin typeface="Bahnschrift SemiBold SemiConden" panose="020B0502040204020203" pitchFamily="34" charset="0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77" name="Google Shape;577;p65"/>
          <p:cNvSpPr/>
          <p:nvPr/>
        </p:nvSpPr>
        <p:spPr>
          <a:xfrm>
            <a:off x="1940296" y="2512390"/>
            <a:ext cx="120900" cy="1209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65"/>
          <p:cNvSpPr txBox="1"/>
          <p:nvPr/>
        </p:nvSpPr>
        <p:spPr>
          <a:xfrm>
            <a:off x="715100" y="3052700"/>
            <a:ext cx="2571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04</a:t>
            </a:r>
            <a:endParaRPr sz="1800">
              <a:solidFill>
                <a:schemeClr val="lt2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79" name="Google Shape;579;p65"/>
          <p:cNvSpPr txBox="1"/>
          <p:nvPr/>
        </p:nvSpPr>
        <p:spPr>
          <a:xfrm>
            <a:off x="715100" y="3433700"/>
            <a:ext cx="25713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Bahnschrift SemiBold SemiConden" panose="020B0502040204020203" pitchFamily="34" charset="0"/>
                <a:ea typeface="Alexandria Medium"/>
                <a:cs typeface="Alexandria Medium"/>
                <a:sym typeface="Alexandria Medium"/>
              </a:rPr>
              <a:t>Сравнение условий</a:t>
            </a:r>
            <a:endParaRPr sz="1800" dirty="0">
              <a:solidFill>
                <a:schemeClr val="dk1"/>
              </a:solidFill>
              <a:latin typeface="Bahnschrift SemiBold SemiConden" panose="020B0502040204020203" pitchFamily="34" charset="0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80" name="Google Shape;580;p65"/>
          <p:cNvSpPr txBox="1"/>
          <p:nvPr/>
        </p:nvSpPr>
        <p:spPr>
          <a:xfrm>
            <a:off x="3286400" y="3052700"/>
            <a:ext cx="2571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bg2">
                    <a:lumMod val="50000"/>
                  </a:schemeClr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05</a:t>
            </a:r>
            <a:endParaRPr sz="1800" dirty="0">
              <a:solidFill>
                <a:schemeClr val="bg2">
                  <a:lumMod val="50000"/>
                </a:schemeClr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81" name="Google Shape;581;p65"/>
          <p:cNvSpPr txBox="1"/>
          <p:nvPr/>
        </p:nvSpPr>
        <p:spPr>
          <a:xfrm>
            <a:off x="3286400" y="3433700"/>
            <a:ext cx="25713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 </a:t>
            </a:r>
            <a:r>
              <a:rPr lang="ru-RU" sz="1800" dirty="0">
                <a:solidFill>
                  <a:schemeClr val="dk1"/>
                </a:solidFill>
                <a:latin typeface="Bahnschrift SemiBold SemiConden" panose="020B0502040204020203" pitchFamily="34" charset="0"/>
                <a:ea typeface="Alexandria Medium"/>
                <a:cs typeface="Alexandria Medium"/>
                <a:sym typeface="Alexandria Medium"/>
              </a:rPr>
              <a:t>Изучение отзывов выпускников</a:t>
            </a:r>
            <a:endParaRPr sz="1800" dirty="0">
              <a:solidFill>
                <a:schemeClr val="dk1"/>
              </a:solidFill>
              <a:latin typeface="Bahnschrift SemiBold SemiConden" panose="020B0502040204020203" pitchFamily="34" charset="0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82" name="Google Shape;582;p65"/>
          <p:cNvSpPr txBox="1"/>
          <p:nvPr/>
        </p:nvSpPr>
        <p:spPr>
          <a:xfrm>
            <a:off x="5857700" y="3052700"/>
            <a:ext cx="2571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bg2">
                    <a:lumMod val="50000"/>
                  </a:schemeClr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06</a:t>
            </a:r>
            <a:endParaRPr sz="1800" dirty="0">
              <a:solidFill>
                <a:schemeClr val="bg2">
                  <a:lumMod val="50000"/>
                </a:schemeClr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83" name="Google Shape;583;p65"/>
          <p:cNvSpPr txBox="1"/>
          <p:nvPr/>
        </p:nvSpPr>
        <p:spPr>
          <a:xfrm>
            <a:off x="5857700" y="3433700"/>
            <a:ext cx="2571300" cy="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Bahnschrift SemiBold SemiConden" panose="020B0502040204020203" pitchFamily="34" charset="0"/>
                <a:ea typeface="Alexandria Medium"/>
                <a:cs typeface="Alexandria Medium"/>
                <a:sym typeface="Alexandria Medium"/>
              </a:rPr>
              <a:t>Совершение осознанного выбора</a:t>
            </a:r>
            <a:endParaRPr sz="1800" dirty="0">
              <a:solidFill>
                <a:schemeClr val="dk1"/>
              </a:solidFill>
              <a:latin typeface="Bahnschrift SemiBold SemiConden" panose="020B0502040204020203" pitchFamily="34" charset="0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84" name="Google Shape;584;p65"/>
          <p:cNvSpPr/>
          <p:nvPr/>
        </p:nvSpPr>
        <p:spPr>
          <a:xfrm>
            <a:off x="1940296" y="4322290"/>
            <a:ext cx="120900" cy="1209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65"/>
          <p:cNvSpPr/>
          <p:nvPr/>
        </p:nvSpPr>
        <p:spPr>
          <a:xfrm>
            <a:off x="4511596" y="2512390"/>
            <a:ext cx="120900" cy="1209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65"/>
          <p:cNvSpPr/>
          <p:nvPr/>
        </p:nvSpPr>
        <p:spPr>
          <a:xfrm>
            <a:off x="4511596" y="4322290"/>
            <a:ext cx="120900" cy="1209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65"/>
          <p:cNvSpPr/>
          <p:nvPr/>
        </p:nvSpPr>
        <p:spPr>
          <a:xfrm>
            <a:off x="7082896" y="2512390"/>
            <a:ext cx="120900" cy="1209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65"/>
          <p:cNvSpPr/>
          <p:nvPr/>
        </p:nvSpPr>
        <p:spPr>
          <a:xfrm>
            <a:off x="7082896" y="4322290"/>
            <a:ext cx="120900" cy="1209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9" name="Google Shape;589;p65"/>
          <p:cNvCxnSpPr>
            <a:stCxn id="577" idx="3"/>
            <a:endCxn id="585" idx="1"/>
          </p:cNvCxnSpPr>
          <p:nvPr/>
        </p:nvCxnSpPr>
        <p:spPr>
          <a:xfrm>
            <a:off x="2061196" y="2572840"/>
            <a:ext cx="245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0" name="Google Shape;590;p65"/>
          <p:cNvCxnSpPr>
            <a:stCxn id="585" idx="3"/>
            <a:endCxn id="587" idx="1"/>
          </p:cNvCxnSpPr>
          <p:nvPr/>
        </p:nvCxnSpPr>
        <p:spPr>
          <a:xfrm>
            <a:off x="4632496" y="2572840"/>
            <a:ext cx="245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1" name="Google Shape;591;p65"/>
          <p:cNvCxnSpPr>
            <a:stCxn id="584" idx="3"/>
            <a:endCxn id="586" idx="1"/>
          </p:cNvCxnSpPr>
          <p:nvPr/>
        </p:nvCxnSpPr>
        <p:spPr>
          <a:xfrm>
            <a:off x="2061196" y="4382740"/>
            <a:ext cx="245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2" name="Google Shape;592;p65"/>
          <p:cNvCxnSpPr>
            <a:stCxn id="586" idx="3"/>
            <a:endCxn id="588" idx="1"/>
          </p:cNvCxnSpPr>
          <p:nvPr/>
        </p:nvCxnSpPr>
        <p:spPr>
          <a:xfrm>
            <a:off x="4632496" y="4382740"/>
            <a:ext cx="245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3" name="Google Shape;593;p65"/>
          <p:cNvCxnSpPr>
            <a:stCxn id="587" idx="3"/>
            <a:endCxn id="584" idx="1"/>
          </p:cNvCxnSpPr>
          <p:nvPr/>
        </p:nvCxnSpPr>
        <p:spPr>
          <a:xfrm flipH="1">
            <a:off x="1940296" y="2572840"/>
            <a:ext cx="5263500" cy="1809900"/>
          </a:xfrm>
          <a:prstGeom prst="bentConnector5">
            <a:avLst>
              <a:gd name="adj1" fmla="val -23330"/>
              <a:gd name="adj2" fmla="val 19096"/>
              <a:gd name="adj3" fmla="val 12331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575;p65">
            <a:extLst>
              <a:ext uri="{FF2B5EF4-FFF2-40B4-BE49-F238E27FC236}">
                <a16:creationId xmlns:a16="http://schemas.microsoft.com/office/drawing/2014/main" xmlns="" id="{37F7BA57-9249-BA6A-E771-6C4C00AFAE38}"/>
              </a:ext>
            </a:extLst>
          </p:cNvPr>
          <p:cNvSpPr txBox="1"/>
          <p:nvPr/>
        </p:nvSpPr>
        <p:spPr>
          <a:xfrm>
            <a:off x="5857601" y="1240915"/>
            <a:ext cx="2571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03</a:t>
            </a:r>
            <a:endParaRPr sz="1800" dirty="0">
              <a:solidFill>
                <a:schemeClr val="lt2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3" name="Google Shape;578;p65">
            <a:extLst>
              <a:ext uri="{FF2B5EF4-FFF2-40B4-BE49-F238E27FC236}">
                <a16:creationId xmlns:a16="http://schemas.microsoft.com/office/drawing/2014/main" xmlns="" id="{A0C402C8-70DB-8E62-6269-70D92C109B57}"/>
              </a:ext>
            </a:extLst>
          </p:cNvPr>
          <p:cNvSpPr txBox="1"/>
          <p:nvPr/>
        </p:nvSpPr>
        <p:spPr>
          <a:xfrm>
            <a:off x="715001" y="3050815"/>
            <a:ext cx="2571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04</a:t>
            </a:r>
            <a:endParaRPr sz="1800">
              <a:solidFill>
                <a:schemeClr val="lt2"/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4" name="Google Shape;575;p65">
            <a:extLst>
              <a:ext uri="{FF2B5EF4-FFF2-40B4-BE49-F238E27FC236}">
                <a16:creationId xmlns:a16="http://schemas.microsoft.com/office/drawing/2014/main" xmlns="" id="{A17F7863-016A-26FA-B67A-B0E9FE4097F2}"/>
              </a:ext>
            </a:extLst>
          </p:cNvPr>
          <p:cNvSpPr txBox="1"/>
          <p:nvPr/>
        </p:nvSpPr>
        <p:spPr>
          <a:xfrm>
            <a:off x="5857651" y="1240915"/>
            <a:ext cx="2571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bg2">
                    <a:lumMod val="50000"/>
                  </a:schemeClr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03</a:t>
            </a:r>
            <a:endParaRPr sz="1800" dirty="0">
              <a:solidFill>
                <a:schemeClr val="bg2">
                  <a:lumMod val="50000"/>
                </a:schemeClr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" name="Google Shape;578;p65">
            <a:extLst>
              <a:ext uri="{FF2B5EF4-FFF2-40B4-BE49-F238E27FC236}">
                <a16:creationId xmlns:a16="http://schemas.microsoft.com/office/drawing/2014/main" xmlns="" id="{C1C69AC2-981A-2DD3-986F-2A2502B1B756}"/>
              </a:ext>
            </a:extLst>
          </p:cNvPr>
          <p:cNvSpPr txBox="1"/>
          <p:nvPr/>
        </p:nvSpPr>
        <p:spPr>
          <a:xfrm>
            <a:off x="715051" y="3050815"/>
            <a:ext cx="2571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bg2">
                    <a:lumMod val="50000"/>
                  </a:schemeClr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04</a:t>
            </a:r>
            <a:endParaRPr sz="1800" dirty="0">
              <a:solidFill>
                <a:schemeClr val="bg2">
                  <a:lumMod val="50000"/>
                </a:schemeClr>
              </a:solidFill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>
            <a:spLocks noGrp="1"/>
          </p:cNvSpPr>
          <p:nvPr>
            <p:ph type="title"/>
          </p:nvPr>
        </p:nvSpPr>
        <p:spPr>
          <a:xfrm>
            <a:off x="1530263" y="1258245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EasyWay</a:t>
            </a:r>
            <a:endParaRPr dirty="0"/>
          </a:p>
        </p:txBody>
      </p:sp>
      <p:sp>
        <p:nvSpPr>
          <p:cNvPr id="235" name="Google Shape;235;p39"/>
          <p:cNvSpPr txBox="1">
            <a:spLocks noGrp="1"/>
          </p:cNvSpPr>
          <p:nvPr>
            <p:ph type="title" idx="2"/>
          </p:nvPr>
        </p:nvSpPr>
        <p:spPr>
          <a:xfrm>
            <a:off x="1198400" y="241005"/>
            <a:ext cx="7708800" cy="11518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/>
              <a:t>ВузСравни</a:t>
            </a:r>
            <a:endParaRPr dirty="0"/>
          </a:p>
        </p:txBody>
      </p:sp>
      <p:cxnSp>
        <p:nvCxnSpPr>
          <p:cNvPr id="237" name="Google Shape;237;p39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7EF1933-B6DB-C9E7-59B9-61582A3418EA}"/>
              </a:ext>
            </a:extLst>
          </p:cNvPr>
          <p:cNvSpPr txBox="1"/>
          <p:nvPr/>
        </p:nvSpPr>
        <p:spPr>
          <a:xfrm>
            <a:off x="1262195" y="2919680"/>
            <a:ext cx="6379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Делай выбор образовательного пути </a:t>
            </a:r>
            <a:r>
              <a:rPr lang="ru-RU" sz="2400" b="1" dirty="0">
                <a:solidFill>
                  <a:schemeClr val="bg1">
                    <a:lumMod val="50000"/>
                  </a:schemeClr>
                </a:solidFill>
              </a:rPr>
              <a:t>осознанно</a:t>
            </a:r>
            <a:r>
              <a:rPr lang="ru-RU" sz="2400" dirty="0"/>
              <a:t>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561" y="90439"/>
            <a:ext cx="3914201" cy="161465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678" y="1432934"/>
            <a:ext cx="3481966" cy="34819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9" name="Google Shape;229;p38">
            <a:hlinkClick r:id="" action="ppaction://hlinkshowjump?jump=nextslide"/>
          </p:cNvPr>
          <p:cNvCxnSpPr/>
          <p:nvPr/>
        </p:nvCxnSpPr>
        <p:spPr>
          <a:xfrm>
            <a:off x="598766" y="822699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EE37FEE7-CDC4-AED0-CE5F-795D2FEFB42C}"/>
              </a:ext>
            </a:extLst>
          </p:cNvPr>
          <p:cNvSpPr txBox="1"/>
          <p:nvPr/>
        </p:nvSpPr>
        <p:spPr>
          <a:xfrm>
            <a:off x="1082066" y="390823"/>
            <a:ext cx="29883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Наша команда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DBB7A922-253E-E35C-4177-2F5051920D87}"/>
              </a:ext>
            </a:extLst>
          </p:cNvPr>
          <p:cNvSpPr txBox="1"/>
          <p:nvPr/>
        </p:nvSpPr>
        <p:spPr>
          <a:xfrm>
            <a:off x="395019" y="4284000"/>
            <a:ext cx="13740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Елизавета Дю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C101970B-4AE7-5E0A-BE86-5A8C61ECDAC9}"/>
              </a:ext>
            </a:extLst>
          </p:cNvPr>
          <p:cNvSpPr txBox="1"/>
          <p:nvPr/>
        </p:nvSpPr>
        <p:spPr>
          <a:xfrm>
            <a:off x="2354851" y="4291200"/>
            <a:ext cx="17155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Полина Смирнова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7F8D1627-8DA8-77EF-D6E2-FF807A34A3B6}"/>
              </a:ext>
            </a:extLst>
          </p:cNvPr>
          <p:cNvSpPr txBox="1"/>
          <p:nvPr/>
        </p:nvSpPr>
        <p:spPr>
          <a:xfrm>
            <a:off x="4614591" y="4284000"/>
            <a:ext cx="19271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Григорий Довыденко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D35EC9FA-C9AD-369F-977E-C16C3FC42294}"/>
              </a:ext>
            </a:extLst>
          </p:cNvPr>
          <p:cNvSpPr txBox="1"/>
          <p:nvPr/>
        </p:nvSpPr>
        <p:spPr>
          <a:xfrm>
            <a:off x="7171200" y="4291200"/>
            <a:ext cx="1433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Рыкова София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293" y="1427021"/>
            <a:ext cx="2096470" cy="209647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1474" y="1277322"/>
            <a:ext cx="1866466" cy="248862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355" y="1275588"/>
            <a:ext cx="1867766" cy="249035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200" y="1118491"/>
            <a:ext cx="1698948" cy="24811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DF6FF"/>
      </a:lt1>
      <a:dk2>
        <a:srgbClr val="D6C2F5"/>
      </a:dk2>
      <a:lt2>
        <a:srgbClr val="8752B8"/>
      </a:lt2>
      <a:accent1>
        <a:srgbClr val="4B13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50000"/>
          </a:schemeClr>
        </a:solidFill>
        <a:ln>
          <a:noFill/>
        </a:ln>
      </a:spPr>
      <a:bodyPr spcFirstLastPara="1" wrap="square" lIns="91425" tIns="91425" rIns="91425" bIns="91425" anchor="ctr" anchorCtr="0">
        <a:noAutofit/>
      </a:bodyPr>
      <a:lstStyle>
        <a:defPPr marL="0" indent="0" algn="l" rtl="0">
          <a:spcBef>
            <a:spcPts val="0"/>
          </a:spcBef>
          <a:spcAft>
            <a:spcPts val="0"/>
          </a:spcAft>
          <a:buNone/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168</Words>
  <Application>Microsoft Office PowerPoint</Application>
  <PresentationFormat>Экран (16:9)</PresentationFormat>
  <Paragraphs>63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20" baseType="lpstr">
      <vt:lpstr>Alexandria Medium</vt:lpstr>
      <vt:lpstr>Arial Black</vt:lpstr>
      <vt:lpstr>Arial</vt:lpstr>
      <vt:lpstr>Microsoft Sans Serif</vt:lpstr>
      <vt:lpstr>Calibri</vt:lpstr>
      <vt:lpstr>Bahnschrift SemiBold SemiConden</vt:lpstr>
      <vt:lpstr>Noto Sans</vt:lpstr>
      <vt:lpstr>Times New Roman</vt:lpstr>
      <vt:lpstr>Malgun Gothic Semilight</vt:lpstr>
      <vt:lpstr>Albert Sans</vt:lpstr>
      <vt:lpstr>Sitka Small Semibold</vt:lpstr>
      <vt:lpstr>Lead Funnel by Slidesgo</vt:lpstr>
      <vt:lpstr>ВузСравни EasyWay</vt:lpstr>
      <vt:lpstr>01</vt:lpstr>
      <vt:lpstr>Наше решение: собрать все сравнения в одном месте</vt:lpstr>
      <vt:lpstr>Чем мы отличаемся от обычных агрегаторов:</vt:lpstr>
      <vt:lpstr>Механика сервиса:</vt:lpstr>
      <vt:lpstr>EasyWay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ВузСравни EasyWay</dc:title>
  <dc:creator>polsm</dc:creator>
  <cp:lastModifiedBy>Григорий</cp:lastModifiedBy>
  <cp:revision>16</cp:revision>
  <dcterms:modified xsi:type="dcterms:W3CDTF">2026-09-17T20:01:21Z</dcterms:modified>
</cp:coreProperties>
</file>